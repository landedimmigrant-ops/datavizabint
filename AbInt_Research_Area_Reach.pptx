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28016"/>
            <a:ext cx="6400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Area Reach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8321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Projects per area, ranked by alignment score  ·  1° = primary  ·  2° = secondary  ·  AbInt Phase 2  ·  n=36 projects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411480" y="804672"/>
            <a:ext cx="8321040" cy="0"/>
          </a:xfrm>
          <a:prstGeom prst="line">
            <a:avLst/>
          </a:prstGeom>
          <a:noFill/>
          <a:ln w="12700">
            <a:solidFill>
              <a:srgbClr val="1E2A3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472" y="914400"/>
            <a:ext cx="1581912" cy="4087368"/>
          </a:xfrm>
          <a:prstGeom prst="rect">
            <a:avLst/>
          </a:prstGeom>
          <a:solidFill>
            <a:srgbClr val="111827"/>
          </a:solidFill>
          <a:ln w="12700">
            <a:solidFill>
              <a:srgbClr val="1E2A3D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3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47472" y="914400"/>
            <a:ext cx="1581912" cy="4572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024128"/>
            <a:ext cx="1362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STORYTELLING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438912" y="1261872"/>
            <a:ext cx="1399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7000" dirty="0"/>
          </a:p>
        </p:txBody>
      </p:sp>
      <p:sp>
        <p:nvSpPr>
          <p:cNvPr id="10" name="Text 8"/>
          <p:cNvSpPr/>
          <p:nvPr/>
        </p:nvSpPr>
        <p:spPr>
          <a:xfrm>
            <a:off x="457200" y="2066544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projects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57200" y="2286000"/>
            <a:ext cx="603504" cy="219456"/>
          </a:xfrm>
          <a:prstGeom prst="rect">
            <a:avLst/>
          </a:prstGeom>
          <a:solidFill>
            <a:srgbClr val="A78BFA">
              <a:alpha val="18000"/>
            </a:srgbClr>
          </a:solidFill>
          <a:ln w="9525">
            <a:solidFill>
              <a:srgbClr val="A78BF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2286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primary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1097280" y="2286000"/>
            <a:ext cx="603504" cy="219456"/>
          </a:xfrm>
          <a:prstGeom prst="rect">
            <a:avLst/>
          </a:prstGeom>
          <a:solidFill>
            <a:srgbClr val="1A2333"/>
          </a:solidFill>
          <a:ln w="9525">
            <a:solidFill>
              <a:srgbClr val="2A3A5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97280" y="2286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secondary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57200" y="2560320"/>
            <a:ext cx="1362456" cy="0"/>
          </a:xfrm>
          <a:prstGeom prst="line">
            <a:avLst/>
          </a:prstGeom>
          <a:noFill/>
          <a:ln w="9525">
            <a:solidFill>
              <a:srgbClr val="1E2A3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" y="2633472"/>
            <a:ext cx="11064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1636776" y="2633472"/>
            <a:ext cx="237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ALN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20624" y="2798064"/>
            <a:ext cx="1435608" cy="256032"/>
          </a:xfrm>
          <a:prstGeom prst="rect">
            <a:avLst/>
          </a:prstGeom>
          <a:solidFill>
            <a:srgbClr val="0D1520"/>
          </a:solidFill>
          <a:ln w="12700">
            <a:solidFill>
              <a:srgbClr val="0D152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7200" y="2834640"/>
            <a:ext cx="201168" cy="201168"/>
          </a:xfrm>
          <a:prstGeom prst="rect">
            <a:avLst/>
          </a:prstGeom>
          <a:solidFill>
            <a:srgbClr val="A78BFA">
              <a:alpha val="25000"/>
            </a:srgbClr>
          </a:solidFill>
          <a:ln w="6350">
            <a:solidFill>
              <a:srgbClr val="A78BF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283464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1°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685800" y="2834640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S. Diamond &amp; A. Pechawis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636776" y="2834640"/>
            <a:ext cx="237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9.5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57200" y="3054096"/>
            <a:ext cx="1362456" cy="0"/>
          </a:xfrm>
          <a:prstGeom prst="line">
            <a:avLst/>
          </a:prstGeom>
          <a:noFill/>
          <a:ln w="6350">
            <a:solidFill>
              <a:srgbClr val="1A233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57200" y="3108960"/>
            <a:ext cx="201168" cy="201168"/>
          </a:xfrm>
          <a:prstGeom prst="rect">
            <a:avLst/>
          </a:prstGeom>
          <a:solidFill>
            <a:srgbClr val="1E2535"/>
          </a:solidFill>
          <a:ln w="6350">
            <a:solidFill>
              <a:srgbClr val="64748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7200" y="310896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2°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685800" y="3108960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M. Cheung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636776" y="3108960"/>
            <a:ext cx="237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9.0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57200" y="3328416"/>
            <a:ext cx="1362456" cy="0"/>
          </a:xfrm>
          <a:prstGeom prst="line">
            <a:avLst/>
          </a:prstGeom>
          <a:noFill/>
          <a:ln w="6350">
            <a:solidFill>
              <a:srgbClr val="1A233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20624" y="3346704"/>
            <a:ext cx="1435608" cy="256032"/>
          </a:xfrm>
          <a:prstGeom prst="rect">
            <a:avLst/>
          </a:prstGeom>
          <a:solidFill>
            <a:srgbClr val="0D1520"/>
          </a:solidFill>
          <a:ln w="12700">
            <a:solidFill>
              <a:srgbClr val="0D152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57200" y="3383280"/>
            <a:ext cx="201168" cy="201168"/>
          </a:xfrm>
          <a:prstGeom prst="rect">
            <a:avLst/>
          </a:prstGeom>
          <a:solidFill>
            <a:srgbClr val="1E2535"/>
          </a:solidFill>
          <a:ln w="6350">
            <a:solidFill>
              <a:srgbClr val="64748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57200" y="338328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2°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685800" y="3383280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Cordes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636776" y="3383280"/>
            <a:ext cx="237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9.0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57200" y="3602736"/>
            <a:ext cx="1362456" cy="0"/>
          </a:xfrm>
          <a:prstGeom prst="line">
            <a:avLst/>
          </a:prstGeom>
          <a:noFill/>
          <a:ln w="6350">
            <a:solidFill>
              <a:srgbClr val="1A233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57200" y="3657600"/>
            <a:ext cx="201168" cy="201168"/>
          </a:xfrm>
          <a:prstGeom prst="rect">
            <a:avLst/>
          </a:prstGeom>
          <a:solidFill>
            <a:srgbClr val="1E2535"/>
          </a:solidFill>
          <a:ln w="6350">
            <a:solidFill>
              <a:srgbClr val="64748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7200" y="365760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2°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685800" y="3657600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 Fire AI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636776" y="3657600"/>
            <a:ext cx="237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9.0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457200" y="3877056"/>
            <a:ext cx="1362456" cy="0"/>
          </a:xfrm>
          <a:prstGeom prst="line">
            <a:avLst/>
          </a:prstGeom>
          <a:noFill/>
          <a:ln w="6350">
            <a:solidFill>
              <a:srgbClr val="1A233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20624" y="3895344"/>
            <a:ext cx="1435608" cy="256032"/>
          </a:xfrm>
          <a:prstGeom prst="rect">
            <a:avLst/>
          </a:prstGeom>
          <a:solidFill>
            <a:srgbClr val="0D1520"/>
          </a:solidFill>
          <a:ln w="12700">
            <a:solidFill>
              <a:srgbClr val="0D152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57200" y="3931920"/>
            <a:ext cx="201168" cy="201168"/>
          </a:xfrm>
          <a:prstGeom prst="rect">
            <a:avLst/>
          </a:prstGeom>
          <a:solidFill>
            <a:srgbClr val="A78BFA">
              <a:alpha val="25000"/>
            </a:srgbClr>
          </a:solidFill>
          <a:ln w="6350">
            <a:solidFill>
              <a:srgbClr val="A78BF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57200" y="393192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1°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685800" y="3931920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Emergence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636776" y="3931920"/>
            <a:ext cx="237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9.0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457200" y="4151376"/>
            <a:ext cx="1362456" cy="0"/>
          </a:xfrm>
          <a:prstGeom prst="line">
            <a:avLst/>
          </a:prstGeom>
          <a:noFill/>
          <a:ln w="6350">
            <a:solidFill>
              <a:srgbClr val="1A2333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57200" y="4206240"/>
            <a:ext cx="201168" cy="201168"/>
          </a:xfrm>
          <a:prstGeom prst="rect">
            <a:avLst/>
          </a:prstGeom>
          <a:solidFill>
            <a:srgbClr val="A78BFA">
              <a:alpha val="25000"/>
            </a:srgbClr>
          </a:solidFill>
          <a:ln w="6350">
            <a:solidFill>
              <a:srgbClr val="A78BF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57200" y="420624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1°</a:t>
            </a:r>
            <a:endParaRPr lang="en-US" sz="750" dirty="0"/>
          </a:p>
        </p:txBody>
      </p:sp>
      <p:sp>
        <p:nvSpPr>
          <p:cNvPr id="48" name="Text 46"/>
          <p:cNvSpPr/>
          <p:nvPr/>
        </p:nvSpPr>
        <p:spPr>
          <a:xfrm>
            <a:off x="685800" y="4206240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Healy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1636776" y="4206240"/>
            <a:ext cx="237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8.5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457200" y="4471416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+21 more projects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347472" y="4544568"/>
            <a:ext cx="1581912" cy="457200"/>
          </a:xfrm>
          <a:prstGeom prst="rect">
            <a:avLst/>
          </a:prstGeom>
          <a:solidFill>
            <a:srgbClr val="0A1020"/>
          </a:solidFill>
          <a:ln w="12700">
            <a:solidFill>
              <a:srgbClr val="1E2A3D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57200" y="4544568"/>
            <a:ext cx="1362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7.02</a:t>
            </a:r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10  avg alignment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2052828" y="914400"/>
            <a:ext cx="1581912" cy="4087368"/>
          </a:xfrm>
          <a:prstGeom prst="rect">
            <a:avLst/>
          </a:prstGeom>
          <a:solidFill>
            <a:srgbClr val="111827"/>
          </a:solidFill>
          <a:ln w="12700">
            <a:solidFill>
              <a:srgbClr val="1E2A3D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30000"/>
              </a:srgbClr>
            </a:outerShdw>
          </a:effectLst>
        </p:spPr>
      </p:sp>
      <p:sp>
        <p:nvSpPr>
          <p:cNvPr id="54" name="Shape 52"/>
          <p:cNvSpPr/>
          <p:nvPr/>
        </p:nvSpPr>
        <p:spPr>
          <a:xfrm>
            <a:off x="2052828" y="914400"/>
            <a:ext cx="1581912" cy="45720"/>
          </a:xfrm>
          <a:prstGeom prst="rect">
            <a:avLst/>
          </a:prstGeom>
          <a:solidFill>
            <a:srgbClr val="FACC15"/>
          </a:solidFill>
          <a:ln w="12700">
            <a:solidFill>
              <a:srgbClr val="FACC1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162556" y="1024128"/>
            <a:ext cx="1362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FACC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2144268" y="1261872"/>
            <a:ext cx="1399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0" b="1" dirty="0">
                <a:solidFill>
                  <a:srgbClr val="FACC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7000" dirty="0"/>
          </a:p>
        </p:txBody>
      </p:sp>
      <p:sp>
        <p:nvSpPr>
          <p:cNvPr id="57" name="Text 55"/>
          <p:cNvSpPr/>
          <p:nvPr/>
        </p:nvSpPr>
        <p:spPr>
          <a:xfrm>
            <a:off x="2162556" y="2066544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projects</a:t>
            </a:r>
            <a:endParaRPr lang="en-US" sz="950" dirty="0"/>
          </a:p>
        </p:txBody>
      </p:sp>
      <p:sp>
        <p:nvSpPr>
          <p:cNvPr id="58" name="Shape 56"/>
          <p:cNvSpPr/>
          <p:nvPr/>
        </p:nvSpPr>
        <p:spPr>
          <a:xfrm>
            <a:off x="2162556" y="2286000"/>
            <a:ext cx="603504" cy="219456"/>
          </a:xfrm>
          <a:prstGeom prst="rect">
            <a:avLst/>
          </a:prstGeom>
          <a:solidFill>
            <a:srgbClr val="FACC15">
              <a:alpha val="18000"/>
            </a:srgbClr>
          </a:solidFill>
          <a:ln w="9525">
            <a:solidFill>
              <a:srgbClr val="FACC1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2162556" y="2286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ACC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primary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2802636" y="2286000"/>
            <a:ext cx="603504" cy="219456"/>
          </a:xfrm>
          <a:prstGeom prst="rect">
            <a:avLst/>
          </a:prstGeom>
          <a:solidFill>
            <a:srgbClr val="1A2333"/>
          </a:solidFill>
          <a:ln w="9525">
            <a:solidFill>
              <a:srgbClr val="2A3A5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2802636" y="2286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secondary</a:t>
            </a:r>
            <a:endParaRPr lang="en-US" sz="800" dirty="0"/>
          </a:p>
        </p:txBody>
      </p:sp>
      <p:sp>
        <p:nvSpPr>
          <p:cNvPr id="62" name="Shape 60"/>
          <p:cNvSpPr/>
          <p:nvPr/>
        </p:nvSpPr>
        <p:spPr>
          <a:xfrm>
            <a:off x="2162556" y="2560320"/>
            <a:ext cx="1362456" cy="0"/>
          </a:xfrm>
          <a:prstGeom prst="line">
            <a:avLst/>
          </a:prstGeom>
          <a:noFill/>
          <a:ln w="9525">
            <a:solidFill>
              <a:srgbClr val="1E2A3D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2299716" y="2633472"/>
            <a:ext cx="11064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</a:t>
            </a:r>
            <a:endParaRPr lang="en-US" sz="700" dirty="0"/>
          </a:p>
        </p:txBody>
      </p:sp>
      <p:sp>
        <p:nvSpPr>
          <p:cNvPr id="64" name="Text 62"/>
          <p:cNvSpPr/>
          <p:nvPr/>
        </p:nvSpPr>
        <p:spPr>
          <a:xfrm>
            <a:off x="3342132" y="2633472"/>
            <a:ext cx="237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ALN</a:t>
            </a:r>
            <a:endParaRPr lang="en-US" sz="700" dirty="0"/>
          </a:p>
        </p:txBody>
      </p:sp>
      <p:sp>
        <p:nvSpPr>
          <p:cNvPr id="65" name="Shape 63"/>
          <p:cNvSpPr/>
          <p:nvPr/>
        </p:nvSpPr>
        <p:spPr>
          <a:xfrm>
            <a:off x="2125980" y="2798064"/>
            <a:ext cx="1435608" cy="256032"/>
          </a:xfrm>
          <a:prstGeom prst="rect">
            <a:avLst/>
          </a:prstGeom>
          <a:solidFill>
            <a:srgbClr val="0D1520"/>
          </a:solidFill>
          <a:ln w="12700">
            <a:solidFill>
              <a:srgbClr val="0D1520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2162556" y="2834640"/>
            <a:ext cx="201168" cy="201168"/>
          </a:xfrm>
          <a:prstGeom prst="rect">
            <a:avLst/>
          </a:prstGeom>
          <a:solidFill>
            <a:srgbClr val="1E2535"/>
          </a:solidFill>
          <a:ln w="6350">
            <a:solidFill>
              <a:srgbClr val="64748B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2162556" y="283464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2°</a:t>
            </a:r>
            <a:endParaRPr lang="en-US" sz="750" dirty="0"/>
          </a:p>
        </p:txBody>
      </p:sp>
      <p:sp>
        <p:nvSpPr>
          <p:cNvPr id="68" name="Text 66"/>
          <p:cNvSpPr/>
          <p:nvPr/>
        </p:nvSpPr>
        <p:spPr>
          <a:xfrm>
            <a:off x="2391156" y="2834640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S. Diamond &amp; A. Pechawis</a:t>
            </a:r>
            <a:endParaRPr lang="en-US" sz="900" dirty="0"/>
          </a:p>
        </p:txBody>
      </p:sp>
      <p:sp>
        <p:nvSpPr>
          <p:cNvPr id="69" name="Text 67"/>
          <p:cNvSpPr/>
          <p:nvPr/>
        </p:nvSpPr>
        <p:spPr>
          <a:xfrm>
            <a:off x="3342132" y="2834640"/>
            <a:ext cx="237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9.5</a:t>
            </a:r>
            <a:endParaRPr lang="en-US" sz="950" dirty="0"/>
          </a:p>
        </p:txBody>
      </p:sp>
      <p:sp>
        <p:nvSpPr>
          <p:cNvPr id="70" name="Shape 68"/>
          <p:cNvSpPr/>
          <p:nvPr/>
        </p:nvSpPr>
        <p:spPr>
          <a:xfrm>
            <a:off x="2162556" y="3054096"/>
            <a:ext cx="1362456" cy="0"/>
          </a:xfrm>
          <a:prstGeom prst="line">
            <a:avLst/>
          </a:prstGeom>
          <a:noFill/>
          <a:ln w="6350">
            <a:solidFill>
              <a:srgbClr val="1A2333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2162556" y="3108960"/>
            <a:ext cx="201168" cy="201168"/>
          </a:xfrm>
          <a:prstGeom prst="rect">
            <a:avLst/>
          </a:prstGeom>
          <a:solidFill>
            <a:srgbClr val="FACC15">
              <a:alpha val="25000"/>
            </a:srgbClr>
          </a:solidFill>
          <a:ln w="6350">
            <a:solidFill>
              <a:srgbClr val="FACC15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2162556" y="310896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ACC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1°</a:t>
            </a:r>
            <a:endParaRPr lang="en-US" sz="750" dirty="0"/>
          </a:p>
        </p:txBody>
      </p:sp>
      <p:sp>
        <p:nvSpPr>
          <p:cNvPr id="73" name="Text 71"/>
          <p:cNvSpPr/>
          <p:nvPr/>
        </p:nvSpPr>
        <p:spPr>
          <a:xfrm>
            <a:off x="2391156" y="3108960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Mohawk LLM</a:t>
            </a:r>
            <a:endParaRPr lang="en-US" sz="900" dirty="0"/>
          </a:p>
        </p:txBody>
      </p:sp>
      <p:sp>
        <p:nvSpPr>
          <p:cNvPr id="74" name="Text 72"/>
          <p:cNvSpPr/>
          <p:nvPr/>
        </p:nvSpPr>
        <p:spPr>
          <a:xfrm>
            <a:off x="3342132" y="3108960"/>
            <a:ext cx="237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9.0</a:t>
            </a:r>
            <a:endParaRPr lang="en-US" sz="950" dirty="0"/>
          </a:p>
        </p:txBody>
      </p:sp>
      <p:sp>
        <p:nvSpPr>
          <p:cNvPr id="75" name="Shape 73"/>
          <p:cNvSpPr/>
          <p:nvPr/>
        </p:nvSpPr>
        <p:spPr>
          <a:xfrm>
            <a:off x="2162556" y="3328416"/>
            <a:ext cx="1362456" cy="0"/>
          </a:xfrm>
          <a:prstGeom prst="line">
            <a:avLst/>
          </a:prstGeom>
          <a:noFill/>
          <a:ln w="6350">
            <a:solidFill>
              <a:srgbClr val="1A2333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2125980" y="3346704"/>
            <a:ext cx="1435608" cy="256032"/>
          </a:xfrm>
          <a:prstGeom prst="rect">
            <a:avLst/>
          </a:prstGeom>
          <a:solidFill>
            <a:srgbClr val="0D1520"/>
          </a:solidFill>
          <a:ln w="12700">
            <a:solidFill>
              <a:srgbClr val="0D1520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2162556" y="3383280"/>
            <a:ext cx="201168" cy="201168"/>
          </a:xfrm>
          <a:prstGeom prst="rect">
            <a:avLst/>
          </a:prstGeom>
          <a:solidFill>
            <a:srgbClr val="FACC15">
              <a:alpha val="25000"/>
            </a:srgbClr>
          </a:solidFill>
          <a:ln w="6350">
            <a:solidFill>
              <a:srgbClr val="FACC15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2162556" y="338328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ACC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1°</a:t>
            </a:r>
            <a:endParaRPr lang="en-US" sz="750" dirty="0"/>
          </a:p>
        </p:txBody>
      </p:sp>
      <p:sp>
        <p:nvSpPr>
          <p:cNvPr id="79" name="Text 77"/>
          <p:cNvSpPr/>
          <p:nvPr/>
        </p:nvSpPr>
        <p:spPr>
          <a:xfrm>
            <a:off x="2391156" y="3383280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J. Rice</a:t>
            </a:r>
            <a:endParaRPr lang="en-US" sz="900" dirty="0"/>
          </a:p>
        </p:txBody>
      </p:sp>
      <p:sp>
        <p:nvSpPr>
          <p:cNvPr id="80" name="Text 78"/>
          <p:cNvSpPr/>
          <p:nvPr/>
        </p:nvSpPr>
        <p:spPr>
          <a:xfrm>
            <a:off x="3342132" y="3383280"/>
            <a:ext cx="237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8.5</a:t>
            </a:r>
            <a:endParaRPr lang="en-US" sz="950" dirty="0"/>
          </a:p>
        </p:txBody>
      </p:sp>
      <p:sp>
        <p:nvSpPr>
          <p:cNvPr id="81" name="Shape 79"/>
          <p:cNvSpPr/>
          <p:nvPr/>
        </p:nvSpPr>
        <p:spPr>
          <a:xfrm>
            <a:off x="2162556" y="3602736"/>
            <a:ext cx="1362456" cy="0"/>
          </a:xfrm>
          <a:prstGeom prst="line">
            <a:avLst/>
          </a:prstGeom>
          <a:noFill/>
          <a:ln w="6350">
            <a:solidFill>
              <a:srgbClr val="1A2333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2162556" y="3657600"/>
            <a:ext cx="201168" cy="201168"/>
          </a:xfrm>
          <a:prstGeom prst="rect">
            <a:avLst/>
          </a:prstGeom>
          <a:solidFill>
            <a:srgbClr val="1E2535"/>
          </a:solidFill>
          <a:ln w="6350">
            <a:solidFill>
              <a:srgbClr val="64748B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2162556" y="365760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2°</a:t>
            </a:r>
            <a:endParaRPr lang="en-US" sz="750" dirty="0"/>
          </a:p>
        </p:txBody>
      </p:sp>
      <p:sp>
        <p:nvSpPr>
          <p:cNvPr id="84" name="Text 82"/>
          <p:cNvSpPr/>
          <p:nvPr/>
        </p:nvSpPr>
        <p:spPr>
          <a:xfrm>
            <a:off x="2391156" y="3657600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Bellemare-Pepin</a:t>
            </a:r>
            <a:endParaRPr lang="en-US" sz="900" dirty="0"/>
          </a:p>
        </p:txBody>
      </p:sp>
      <p:sp>
        <p:nvSpPr>
          <p:cNvPr id="85" name="Text 83"/>
          <p:cNvSpPr/>
          <p:nvPr/>
        </p:nvSpPr>
        <p:spPr>
          <a:xfrm>
            <a:off x="3342132" y="3657600"/>
            <a:ext cx="237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8.5</a:t>
            </a:r>
            <a:endParaRPr lang="en-US" sz="950" dirty="0"/>
          </a:p>
        </p:txBody>
      </p:sp>
      <p:sp>
        <p:nvSpPr>
          <p:cNvPr id="86" name="Shape 84"/>
          <p:cNvSpPr/>
          <p:nvPr/>
        </p:nvSpPr>
        <p:spPr>
          <a:xfrm>
            <a:off x="2162556" y="3877056"/>
            <a:ext cx="1362456" cy="0"/>
          </a:xfrm>
          <a:prstGeom prst="line">
            <a:avLst/>
          </a:prstGeom>
          <a:noFill/>
          <a:ln w="6350">
            <a:solidFill>
              <a:srgbClr val="1A2333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2125980" y="3895344"/>
            <a:ext cx="1435608" cy="256032"/>
          </a:xfrm>
          <a:prstGeom prst="rect">
            <a:avLst/>
          </a:prstGeom>
          <a:solidFill>
            <a:srgbClr val="0D1520"/>
          </a:solidFill>
          <a:ln w="12700">
            <a:solidFill>
              <a:srgbClr val="0D152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2162556" y="3931920"/>
            <a:ext cx="201168" cy="201168"/>
          </a:xfrm>
          <a:prstGeom prst="rect">
            <a:avLst/>
          </a:prstGeom>
          <a:solidFill>
            <a:srgbClr val="FACC15">
              <a:alpha val="25000"/>
            </a:srgbClr>
          </a:solidFill>
          <a:ln w="6350">
            <a:solidFill>
              <a:srgbClr val="FACC15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2162556" y="393192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ACC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1°</a:t>
            </a:r>
            <a:endParaRPr lang="en-US" sz="750" dirty="0"/>
          </a:p>
        </p:txBody>
      </p:sp>
      <p:sp>
        <p:nvSpPr>
          <p:cNvPr id="90" name="Text 88"/>
          <p:cNvSpPr/>
          <p:nvPr/>
        </p:nvSpPr>
        <p:spPr>
          <a:xfrm>
            <a:off x="2391156" y="3931920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Clark</a:t>
            </a:r>
            <a:endParaRPr lang="en-US" sz="900" dirty="0"/>
          </a:p>
        </p:txBody>
      </p:sp>
      <p:sp>
        <p:nvSpPr>
          <p:cNvPr id="91" name="Text 89"/>
          <p:cNvSpPr/>
          <p:nvPr/>
        </p:nvSpPr>
        <p:spPr>
          <a:xfrm>
            <a:off x="3342132" y="3931920"/>
            <a:ext cx="237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8.0</a:t>
            </a:r>
            <a:endParaRPr lang="en-US" sz="950" dirty="0"/>
          </a:p>
        </p:txBody>
      </p:sp>
      <p:sp>
        <p:nvSpPr>
          <p:cNvPr id="92" name="Shape 90"/>
          <p:cNvSpPr/>
          <p:nvPr/>
        </p:nvSpPr>
        <p:spPr>
          <a:xfrm>
            <a:off x="2162556" y="4151376"/>
            <a:ext cx="1362456" cy="0"/>
          </a:xfrm>
          <a:prstGeom prst="line">
            <a:avLst/>
          </a:prstGeom>
          <a:noFill/>
          <a:ln w="6350">
            <a:solidFill>
              <a:srgbClr val="1A2333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2162556" y="4206240"/>
            <a:ext cx="201168" cy="201168"/>
          </a:xfrm>
          <a:prstGeom prst="rect">
            <a:avLst/>
          </a:prstGeom>
          <a:solidFill>
            <a:srgbClr val="1E2535"/>
          </a:solidFill>
          <a:ln w="6350">
            <a:solidFill>
              <a:srgbClr val="64748B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2162556" y="420624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2°</a:t>
            </a:r>
            <a:endParaRPr lang="en-US" sz="750" dirty="0"/>
          </a:p>
        </p:txBody>
      </p:sp>
      <p:sp>
        <p:nvSpPr>
          <p:cNvPr id="95" name="Text 93"/>
          <p:cNvSpPr/>
          <p:nvPr/>
        </p:nvSpPr>
        <p:spPr>
          <a:xfrm>
            <a:off x="2391156" y="4206240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Peyak AR</a:t>
            </a:r>
            <a:endParaRPr lang="en-US" sz="900" dirty="0"/>
          </a:p>
        </p:txBody>
      </p:sp>
      <p:sp>
        <p:nvSpPr>
          <p:cNvPr id="96" name="Text 94"/>
          <p:cNvSpPr/>
          <p:nvPr/>
        </p:nvSpPr>
        <p:spPr>
          <a:xfrm>
            <a:off x="3342132" y="4206240"/>
            <a:ext cx="237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8.0</a:t>
            </a:r>
            <a:endParaRPr lang="en-US" sz="950" dirty="0"/>
          </a:p>
        </p:txBody>
      </p:sp>
      <p:sp>
        <p:nvSpPr>
          <p:cNvPr id="97" name="Text 95"/>
          <p:cNvSpPr/>
          <p:nvPr/>
        </p:nvSpPr>
        <p:spPr>
          <a:xfrm>
            <a:off x="2162556" y="4471416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 more projects</a:t>
            </a:r>
            <a:endParaRPr lang="en-US" sz="800" dirty="0"/>
          </a:p>
        </p:txBody>
      </p:sp>
      <p:sp>
        <p:nvSpPr>
          <p:cNvPr id="98" name="Shape 96"/>
          <p:cNvSpPr/>
          <p:nvPr/>
        </p:nvSpPr>
        <p:spPr>
          <a:xfrm>
            <a:off x="2052828" y="4544568"/>
            <a:ext cx="1581912" cy="457200"/>
          </a:xfrm>
          <a:prstGeom prst="rect">
            <a:avLst/>
          </a:prstGeom>
          <a:solidFill>
            <a:srgbClr val="0A1020"/>
          </a:solidFill>
          <a:ln w="12700">
            <a:solidFill>
              <a:srgbClr val="1E2A3D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2162556" y="4544568"/>
            <a:ext cx="1362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7.08</a:t>
            </a:r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10  avg alignment</a:t>
            </a:r>
            <a:endParaRPr lang="en-US" sz="1300" dirty="0"/>
          </a:p>
        </p:txBody>
      </p:sp>
      <p:sp>
        <p:nvSpPr>
          <p:cNvPr id="100" name="Shape 98"/>
          <p:cNvSpPr/>
          <p:nvPr/>
        </p:nvSpPr>
        <p:spPr>
          <a:xfrm>
            <a:off x="3758184" y="914400"/>
            <a:ext cx="1581912" cy="4087368"/>
          </a:xfrm>
          <a:prstGeom prst="rect">
            <a:avLst/>
          </a:prstGeom>
          <a:solidFill>
            <a:srgbClr val="111827"/>
          </a:solidFill>
          <a:ln w="12700">
            <a:solidFill>
              <a:srgbClr val="1E2A3D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30000"/>
              </a:srgbClr>
            </a:outerShdw>
          </a:effectLst>
        </p:spPr>
      </p:sp>
      <p:sp>
        <p:nvSpPr>
          <p:cNvPr id="101" name="Shape 99"/>
          <p:cNvSpPr/>
          <p:nvPr/>
        </p:nvSpPr>
        <p:spPr>
          <a:xfrm>
            <a:off x="3758184" y="914400"/>
            <a:ext cx="1581912" cy="45720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3867912" y="1024128"/>
            <a:ext cx="1362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SYS.</a:t>
            </a:r>
            <a:endParaRPr lang="en-US" sz="850" dirty="0"/>
          </a:p>
        </p:txBody>
      </p:sp>
      <p:sp>
        <p:nvSpPr>
          <p:cNvPr id="103" name="Text 101"/>
          <p:cNvSpPr/>
          <p:nvPr/>
        </p:nvSpPr>
        <p:spPr>
          <a:xfrm>
            <a:off x="3849624" y="1261872"/>
            <a:ext cx="1399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7000" dirty="0"/>
          </a:p>
        </p:txBody>
      </p:sp>
      <p:sp>
        <p:nvSpPr>
          <p:cNvPr id="104" name="Text 102"/>
          <p:cNvSpPr/>
          <p:nvPr/>
        </p:nvSpPr>
        <p:spPr>
          <a:xfrm>
            <a:off x="3867912" y="2066544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projects</a:t>
            </a:r>
            <a:endParaRPr lang="en-US" sz="950" dirty="0"/>
          </a:p>
        </p:txBody>
      </p:sp>
      <p:sp>
        <p:nvSpPr>
          <p:cNvPr id="105" name="Shape 103"/>
          <p:cNvSpPr/>
          <p:nvPr/>
        </p:nvSpPr>
        <p:spPr>
          <a:xfrm>
            <a:off x="3867912" y="2286000"/>
            <a:ext cx="603504" cy="219456"/>
          </a:xfrm>
          <a:prstGeom prst="rect">
            <a:avLst/>
          </a:prstGeom>
          <a:solidFill>
            <a:srgbClr val="60A5FA">
              <a:alpha val="18000"/>
            </a:srgbClr>
          </a:solidFill>
          <a:ln w="9525">
            <a:solidFill>
              <a:srgbClr val="60A5FA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3867912" y="2286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primary</a:t>
            </a:r>
            <a:endParaRPr lang="en-US" sz="800" dirty="0"/>
          </a:p>
        </p:txBody>
      </p:sp>
      <p:sp>
        <p:nvSpPr>
          <p:cNvPr id="107" name="Shape 105"/>
          <p:cNvSpPr/>
          <p:nvPr/>
        </p:nvSpPr>
        <p:spPr>
          <a:xfrm>
            <a:off x="4507992" y="2286000"/>
            <a:ext cx="603504" cy="219456"/>
          </a:xfrm>
          <a:prstGeom prst="rect">
            <a:avLst/>
          </a:prstGeom>
          <a:solidFill>
            <a:srgbClr val="1A2333"/>
          </a:solidFill>
          <a:ln w="9525">
            <a:solidFill>
              <a:srgbClr val="2A3A50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4507992" y="2286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secondary</a:t>
            </a:r>
            <a:endParaRPr lang="en-US" sz="800" dirty="0"/>
          </a:p>
        </p:txBody>
      </p:sp>
      <p:sp>
        <p:nvSpPr>
          <p:cNvPr id="109" name="Shape 107"/>
          <p:cNvSpPr/>
          <p:nvPr/>
        </p:nvSpPr>
        <p:spPr>
          <a:xfrm>
            <a:off x="3867912" y="2560320"/>
            <a:ext cx="1362456" cy="0"/>
          </a:xfrm>
          <a:prstGeom prst="line">
            <a:avLst/>
          </a:prstGeom>
          <a:noFill/>
          <a:ln w="9525">
            <a:solidFill>
              <a:srgbClr val="1E2A3D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4005072" y="2633472"/>
            <a:ext cx="11064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</a:t>
            </a:r>
            <a:endParaRPr lang="en-US" sz="700" dirty="0"/>
          </a:p>
        </p:txBody>
      </p:sp>
      <p:sp>
        <p:nvSpPr>
          <p:cNvPr id="111" name="Text 109"/>
          <p:cNvSpPr/>
          <p:nvPr/>
        </p:nvSpPr>
        <p:spPr>
          <a:xfrm>
            <a:off x="5047488" y="2633472"/>
            <a:ext cx="237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ALN</a:t>
            </a:r>
            <a:endParaRPr lang="en-US" sz="700" dirty="0"/>
          </a:p>
        </p:txBody>
      </p:sp>
      <p:sp>
        <p:nvSpPr>
          <p:cNvPr id="112" name="Shape 110"/>
          <p:cNvSpPr/>
          <p:nvPr/>
        </p:nvSpPr>
        <p:spPr>
          <a:xfrm>
            <a:off x="3831336" y="2798064"/>
            <a:ext cx="1435608" cy="256032"/>
          </a:xfrm>
          <a:prstGeom prst="rect">
            <a:avLst/>
          </a:prstGeom>
          <a:solidFill>
            <a:srgbClr val="0D1520"/>
          </a:solidFill>
          <a:ln w="12700">
            <a:solidFill>
              <a:srgbClr val="0D152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3867912" y="2834640"/>
            <a:ext cx="201168" cy="201168"/>
          </a:xfrm>
          <a:prstGeom prst="rect">
            <a:avLst/>
          </a:prstGeom>
          <a:solidFill>
            <a:srgbClr val="1E2535"/>
          </a:solidFill>
          <a:ln w="6350">
            <a:solidFill>
              <a:srgbClr val="64748B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3867912" y="283464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2°</a:t>
            </a:r>
            <a:endParaRPr lang="en-US" sz="750" dirty="0"/>
          </a:p>
        </p:txBody>
      </p:sp>
      <p:sp>
        <p:nvSpPr>
          <p:cNvPr id="115" name="Text 113"/>
          <p:cNvSpPr/>
          <p:nvPr/>
        </p:nvSpPr>
        <p:spPr>
          <a:xfrm>
            <a:off x="4096512" y="2834640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Fox (UCSD)</a:t>
            </a:r>
            <a:endParaRPr lang="en-US" sz="900" dirty="0"/>
          </a:p>
        </p:txBody>
      </p:sp>
      <p:sp>
        <p:nvSpPr>
          <p:cNvPr id="116" name="Text 114"/>
          <p:cNvSpPr/>
          <p:nvPr/>
        </p:nvSpPr>
        <p:spPr>
          <a:xfrm>
            <a:off x="5047488" y="2834640"/>
            <a:ext cx="237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9.0</a:t>
            </a:r>
            <a:endParaRPr lang="en-US" sz="950" dirty="0"/>
          </a:p>
        </p:txBody>
      </p:sp>
      <p:sp>
        <p:nvSpPr>
          <p:cNvPr id="117" name="Shape 115"/>
          <p:cNvSpPr/>
          <p:nvPr/>
        </p:nvSpPr>
        <p:spPr>
          <a:xfrm>
            <a:off x="3867912" y="3054096"/>
            <a:ext cx="1362456" cy="0"/>
          </a:xfrm>
          <a:prstGeom prst="line">
            <a:avLst/>
          </a:prstGeom>
          <a:noFill/>
          <a:ln w="6350">
            <a:solidFill>
              <a:srgbClr val="1A2333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3867912" y="3108960"/>
            <a:ext cx="201168" cy="201168"/>
          </a:xfrm>
          <a:prstGeom prst="rect">
            <a:avLst/>
          </a:prstGeom>
          <a:solidFill>
            <a:srgbClr val="60A5FA">
              <a:alpha val="25000"/>
            </a:srgbClr>
          </a:solidFill>
          <a:ln w="6350">
            <a:solidFill>
              <a:srgbClr val="60A5FA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3867912" y="310896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1°</a:t>
            </a:r>
            <a:endParaRPr lang="en-US" sz="750" dirty="0"/>
          </a:p>
        </p:txBody>
      </p:sp>
      <p:sp>
        <p:nvSpPr>
          <p:cNvPr id="120" name="Text 118"/>
          <p:cNvSpPr/>
          <p:nvPr/>
        </p:nvSpPr>
        <p:spPr>
          <a:xfrm>
            <a:off x="4096512" y="3108960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 Fire AI</a:t>
            </a:r>
            <a:endParaRPr lang="en-US" sz="900" dirty="0"/>
          </a:p>
        </p:txBody>
      </p:sp>
      <p:sp>
        <p:nvSpPr>
          <p:cNvPr id="121" name="Text 119"/>
          <p:cNvSpPr/>
          <p:nvPr/>
        </p:nvSpPr>
        <p:spPr>
          <a:xfrm>
            <a:off x="5047488" y="3108960"/>
            <a:ext cx="237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9.0</a:t>
            </a:r>
            <a:endParaRPr lang="en-US" sz="950" dirty="0"/>
          </a:p>
        </p:txBody>
      </p:sp>
      <p:sp>
        <p:nvSpPr>
          <p:cNvPr id="122" name="Shape 120"/>
          <p:cNvSpPr/>
          <p:nvPr/>
        </p:nvSpPr>
        <p:spPr>
          <a:xfrm>
            <a:off x="3867912" y="3328416"/>
            <a:ext cx="1362456" cy="0"/>
          </a:xfrm>
          <a:prstGeom prst="line">
            <a:avLst/>
          </a:prstGeom>
          <a:noFill/>
          <a:ln w="6350">
            <a:solidFill>
              <a:srgbClr val="1A2333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3831336" y="3346704"/>
            <a:ext cx="1435608" cy="256032"/>
          </a:xfrm>
          <a:prstGeom prst="rect">
            <a:avLst/>
          </a:prstGeom>
          <a:solidFill>
            <a:srgbClr val="0D1520"/>
          </a:solidFill>
          <a:ln w="12700">
            <a:solidFill>
              <a:srgbClr val="0D152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3867912" y="3383280"/>
            <a:ext cx="201168" cy="201168"/>
          </a:xfrm>
          <a:prstGeom prst="rect">
            <a:avLst/>
          </a:prstGeom>
          <a:solidFill>
            <a:srgbClr val="1E2535"/>
          </a:solidFill>
          <a:ln w="6350">
            <a:solidFill>
              <a:srgbClr val="64748B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3867912" y="338328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2°</a:t>
            </a:r>
            <a:endParaRPr lang="en-US" sz="750" dirty="0"/>
          </a:p>
        </p:txBody>
      </p:sp>
      <p:sp>
        <p:nvSpPr>
          <p:cNvPr id="126" name="Text 124"/>
          <p:cNvSpPr/>
          <p:nvPr/>
        </p:nvSpPr>
        <p:spPr>
          <a:xfrm>
            <a:off x="4096512" y="3383280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Mohawk LLM</a:t>
            </a:r>
            <a:endParaRPr lang="en-US" sz="900" dirty="0"/>
          </a:p>
        </p:txBody>
      </p:sp>
      <p:sp>
        <p:nvSpPr>
          <p:cNvPr id="127" name="Text 125"/>
          <p:cNvSpPr/>
          <p:nvPr/>
        </p:nvSpPr>
        <p:spPr>
          <a:xfrm>
            <a:off x="5047488" y="3383280"/>
            <a:ext cx="237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9.0</a:t>
            </a:r>
            <a:endParaRPr lang="en-US" sz="950" dirty="0"/>
          </a:p>
        </p:txBody>
      </p:sp>
      <p:sp>
        <p:nvSpPr>
          <p:cNvPr id="128" name="Shape 126"/>
          <p:cNvSpPr/>
          <p:nvPr/>
        </p:nvSpPr>
        <p:spPr>
          <a:xfrm>
            <a:off x="3867912" y="3602736"/>
            <a:ext cx="1362456" cy="0"/>
          </a:xfrm>
          <a:prstGeom prst="line">
            <a:avLst/>
          </a:prstGeom>
          <a:noFill/>
          <a:ln w="6350">
            <a:solidFill>
              <a:srgbClr val="1A2333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3867912" y="3657600"/>
            <a:ext cx="201168" cy="201168"/>
          </a:xfrm>
          <a:prstGeom prst="rect">
            <a:avLst/>
          </a:prstGeom>
          <a:solidFill>
            <a:srgbClr val="60A5FA">
              <a:alpha val="25000"/>
            </a:srgbClr>
          </a:solidFill>
          <a:ln w="6350">
            <a:solidFill>
              <a:srgbClr val="60A5FA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3867912" y="365760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1°</a:t>
            </a:r>
            <a:endParaRPr lang="en-US" sz="750" dirty="0"/>
          </a:p>
        </p:txBody>
      </p:sp>
      <p:sp>
        <p:nvSpPr>
          <p:cNvPr id="131" name="Text 129"/>
          <p:cNvSpPr/>
          <p:nvPr/>
        </p:nvSpPr>
        <p:spPr>
          <a:xfrm>
            <a:off x="4096512" y="3657600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Hiringa Te Mahara</a:t>
            </a:r>
            <a:endParaRPr lang="en-US" sz="900" dirty="0"/>
          </a:p>
        </p:txBody>
      </p:sp>
      <p:sp>
        <p:nvSpPr>
          <p:cNvPr id="132" name="Text 130"/>
          <p:cNvSpPr/>
          <p:nvPr/>
        </p:nvSpPr>
        <p:spPr>
          <a:xfrm>
            <a:off x="5047488" y="3657600"/>
            <a:ext cx="237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8.0</a:t>
            </a:r>
            <a:endParaRPr lang="en-US" sz="950" dirty="0"/>
          </a:p>
        </p:txBody>
      </p:sp>
      <p:sp>
        <p:nvSpPr>
          <p:cNvPr id="133" name="Shape 131"/>
          <p:cNvSpPr/>
          <p:nvPr/>
        </p:nvSpPr>
        <p:spPr>
          <a:xfrm>
            <a:off x="3867912" y="3877056"/>
            <a:ext cx="1362456" cy="0"/>
          </a:xfrm>
          <a:prstGeom prst="line">
            <a:avLst/>
          </a:prstGeom>
          <a:noFill/>
          <a:ln w="6350">
            <a:solidFill>
              <a:srgbClr val="1A2333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3831336" y="3895344"/>
            <a:ext cx="1435608" cy="256032"/>
          </a:xfrm>
          <a:prstGeom prst="rect">
            <a:avLst/>
          </a:prstGeom>
          <a:solidFill>
            <a:srgbClr val="0D1520"/>
          </a:solidFill>
          <a:ln w="12700">
            <a:solidFill>
              <a:srgbClr val="0D152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3867912" y="3931920"/>
            <a:ext cx="201168" cy="201168"/>
          </a:xfrm>
          <a:prstGeom prst="rect">
            <a:avLst/>
          </a:prstGeom>
          <a:solidFill>
            <a:srgbClr val="60A5FA">
              <a:alpha val="25000"/>
            </a:srgbClr>
          </a:solidFill>
          <a:ln w="6350">
            <a:solidFill>
              <a:srgbClr val="60A5FA"/>
            </a:solidFill>
            <a:prstDash val="solid"/>
          </a:ln>
        </p:spPr>
      </p:sp>
      <p:sp>
        <p:nvSpPr>
          <p:cNvPr id="136" name="Text 134"/>
          <p:cNvSpPr/>
          <p:nvPr/>
        </p:nvSpPr>
        <p:spPr>
          <a:xfrm>
            <a:off x="3867912" y="393192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1°</a:t>
            </a:r>
            <a:endParaRPr lang="en-US" sz="750" dirty="0"/>
          </a:p>
        </p:txBody>
      </p:sp>
      <p:sp>
        <p:nvSpPr>
          <p:cNvPr id="137" name="Text 135"/>
          <p:cNvSpPr/>
          <p:nvPr/>
        </p:nvSpPr>
        <p:spPr>
          <a:xfrm>
            <a:off x="4096512" y="3931920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Server</a:t>
            </a:r>
            <a:endParaRPr lang="en-US" sz="900" dirty="0"/>
          </a:p>
        </p:txBody>
      </p:sp>
      <p:sp>
        <p:nvSpPr>
          <p:cNvPr id="138" name="Text 136"/>
          <p:cNvSpPr/>
          <p:nvPr/>
        </p:nvSpPr>
        <p:spPr>
          <a:xfrm>
            <a:off x="5047488" y="3931920"/>
            <a:ext cx="237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8.0</a:t>
            </a:r>
            <a:endParaRPr lang="en-US" sz="950" dirty="0"/>
          </a:p>
        </p:txBody>
      </p:sp>
      <p:sp>
        <p:nvSpPr>
          <p:cNvPr id="139" name="Shape 137"/>
          <p:cNvSpPr/>
          <p:nvPr/>
        </p:nvSpPr>
        <p:spPr>
          <a:xfrm>
            <a:off x="3867912" y="4151376"/>
            <a:ext cx="1362456" cy="0"/>
          </a:xfrm>
          <a:prstGeom prst="line">
            <a:avLst/>
          </a:prstGeom>
          <a:noFill/>
          <a:ln w="6350">
            <a:solidFill>
              <a:srgbClr val="1A2333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3867912" y="4206240"/>
            <a:ext cx="201168" cy="201168"/>
          </a:xfrm>
          <a:prstGeom prst="rect">
            <a:avLst/>
          </a:prstGeom>
          <a:solidFill>
            <a:srgbClr val="60A5FA">
              <a:alpha val="25000"/>
            </a:srgbClr>
          </a:solidFill>
          <a:ln w="6350">
            <a:solidFill>
              <a:srgbClr val="60A5FA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3867912" y="420624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1°</a:t>
            </a:r>
            <a:endParaRPr lang="en-US" sz="750" dirty="0"/>
          </a:p>
        </p:txBody>
      </p:sp>
      <p:sp>
        <p:nvSpPr>
          <p:cNvPr id="142" name="Text 140"/>
          <p:cNvSpPr/>
          <p:nvPr/>
        </p:nvSpPr>
        <p:spPr>
          <a:xfrm>
            <a:off x="4096512" y="4206240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Drum</a:t>
            </a:r>
            <a:endParaRPr lang="en-US" sz="900" dirty="0"/>
          </a:p>
        </p:txBody>
      </p:sp>
      <p:sp>
        <p:nvSpPr>
          <p:cNvPr id="143" name="Text 141"/>
          <p:cNvSpPr/>
          <p:nvPr/>
        </p:nvSpPr>
        <p:spPr>
          <a:xfrm>
            <a:off x="5047488" y="4206240"/>
            <a:ext cx="237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7.5</a:t>
            </a:r>
            <a:endParaRPr lang="en-US" sz="950" dirty="0"/>
          </a:p>
        </p:txBody>
      </p:sp>
      <p:sp>
        <p:nvSpPr>
          <p:cNvPr id="144" name="Text 142"/>
          <p:cNvSpPr/>
          <p:nvPr/>
        </p:nvSpPr>
        <p:spPr>
          <a:xfrm>
            <a:off x="3867912" y="4471416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 more projects</a:t>
            </a:r>
            <a:endParaRPr lang="en-US" sz="800" dirty="0"/>
          </a:p>
        </p:txBody>
      </p:sp>
      <p:sp>
        <p:nvSpPr>
          <p:cNvPr id="145" name="Shape 143"/>
          <p:cNvSpPr/>
          <p:nvPr/>
        </p:nvSpPr>
        <p:spPr>
          <a:xfrm>
            <a:off x="3758184" y="4544568"/>
            <a:ext cx="1581912" cy="457200"/>
          </a:xfrm>
          <a:prstGeom prst="rect">
            <a:avLst/>
          </a:prstGeom>
          <a:solidFill>
            <a:srgbClr val="0A1020"/>
          </a:solidFill>
          <a:ln w="12700">
            <a:solidFill>
              <a:srgbClr val="1E2A3D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3867912" y="4544568"/>
            <a:ext cx="1362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7.85</a:t>
            </a:r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10  avg alignment</a:t>
            </a:r>
            <a:endParaRPr lang="en-US" sz="1300" dirty="0"/>
          </a:p>
        </p:txBody>
      </p:sp>
      <p:sp>
        <p:nvSpPr>
          <p:cNvPr id="147" name="Shape 145"/>
          <p:cNvSpPr/>
          <p:nvPr/>
        </p:nvSpPr>
        <p:spPr>
          <a:xfrm>
            <a:off x="5463540" y="914400"/>
            <a:ext cx="1581912" cy="4087368"/>
          </a:xfrm>
          <a:prstGeom prst="rect">
            <a:avLst/>
          </a:prstGeom>
          <a:solidFill>
            <a:srgbClr val="111827"/>
          </a:solidFill>
          <a:ln w="12700">
            <a:solidFill>
              <a:srgbClr val="1E2A3D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30000"/>
              </a:srgbClr>
            </a:outerShdw>
          </a:effectLst>
        </p:spPr>
      </p:sp>
      <p:sp>
        <p:nvSpPr>
          <p:cNvPr id="148" name="Shape 146"/>
          <p:cNvSpPr/>
          <p:nvPr/>
        </p:nvSpPr>
        <p:spPr>
          <a:xfrm>
            <a:off x="5463540" y="914400"/>
            <a:ext cx="1581912" cy="4572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49" name="Text 147"/>
          <p:cNvSpPr/>
          <p:nvPr/>
        </p:nvSpPr>
        <p:spPr>
          <a:xfrm>
            <a:off x="5573268" y="1024128"/>
            <a:ext cx="1362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SOCIO-NEURO AI</a:t>
            </a:r>
            <a:endParaRPr lang="en-US" sz="850" dirty="0"/>
          </a:p>
        </p:txBody>
      </p:sp>
      <p:sp>
        <p:nvSpPr>
          <p:cNvPr id="150" name="Text 148"/>
          <p:cNvSpPr/>
          <p:nvPr/>
        </p:nvSpPr>
        <p:spPr>
          <a:xfrm>
            <a:off x="5554980" y="1261872"/>
            <a:ext cx="1399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000" dirty="0"/>
          </a:p>
        </p:txBody>
      </p:sp>
      <p:sp>
        <p:nvSpPr>
          <p:cNvPr id="151" name="Text 149"/>
          <p:cNvSpPr/>
          <p:nvPr/>
        </p:nvSpPr>
        <p:spPr>
          <a:xfrm>
            <a:off x="5573268" y="2066544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projects</a:t>
            </a:r>
            <a:endParaRPr lang="en-US" sz="950" dirty="0"/>
          </a:p>
        </p:txBody>
      </p:sp>
      <p:sp>
        <p:nvSpPr>
          <p:cNvPr id="152" name="Shape 150"/>
          <p:cNvSpPr/>
          <p:nvPr/>
        </p:nvSpPr>
        <p:spPr>
          <a:xfrm>
            <a:off x="5573268" y="2286000"/>
            <a:ext cx="603504" cy="219456"/>
          </a:xfrm>
          <a:prstGeom prst="rect">
            <a:avLst/>
          </a:prstGeom>
          <a:solidFill>
            <a:srgbClr val="F97316">
              <a:alpha val="18000"/>
            </a:srgbClr>
          </a:solidFill>
          <a:ln w="9525">
            <a:solidFill>
              <a:srgbClr val="F97316"/>
            </a:solidFill>
            <a:prstDash val="solid"/>
          </a:ln>
        </p:spPr>
      </p:sp>
      <p:sp>
        <p:nvSpPr>
          <p:cNvPr id="153" name="Text 151"/>
          <p:cNvSpPr/>
          <p:nvPr/>
        </p:nvSpPr>
        <p:spPr>
          <a:xfrm>
            <a:off x="5573268" y="2286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primary</a:t>
            </a:r>
            <a:endParaRPr lang="en-US" sz="800" dirty="0"/>
          </a:p>
        </p:txBody>
      </p:sp>
      <p:sp>
        <p:nvSpPr>
          <p:cNvPr id="154" name="Shape 152"/>
          <p:cNvSpPr/>
          <p:nvPr/>
        </p:nvSpPr>
        <p:spPr>
          <a:xfrm>
            <a:off x="6213348" y="2286000"/>
            <a:ext cx="603504" cy="219456"/>
          </a:xfrm>
          <a:prstGeom prst="rect">
            <a:avLst/>
          </a:prstGeom>
          <a:solidFill>
            <a:srgbClr val="1A2333"/>
          </a:solidFill>
          <a:ln w="9525">
            <a:solidFill>
              <a:srgbClr val="2A3A50"/>
            </a:solidFill>
            <a:prstDash val="solid"/>
          </a:ln>
        </p:spPr>
      </p:sp>
      <p:sp>
        <p:nvSpPr>
          <p:cNvPr id="155" name="Text 153"/>
          <p:cNvSpPr/>
          <p:nvPr/>
        </p:nvSpPr>
        <p:spPr>
          <a:xfrm>
            <a:off x="6213348" y="2286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secondary</a:t>
            </a:r>
            <a:endParaRPr lang="en-US" sz="800" dirty="0"/>
          </a:p>
        </p:txBody>
      </p:sp>
      <p:sp>
        <p:nvSpPr>
          <p:cNvPr id="156" name="Shape 154"/>
          <p:cNvSpPr/>
          <p:nvPr/>
        </p:nvSpPr>
        <p:spPr>
          <a:xfrm>
            <a:off x="5573268" y="2560320"/>
            <a:ext cx="1362456" cy="0"/>
          </a:xfrm>
          <a:prstGeom prst="line">
            <a:avLst/>
          </a:prstGeom>
          <a:noFill/>
          <a:ln w="9525">
            <a:solidFill>
              <a:srgbClr val="1E2A3D"/>
            </a:solidFill>
            <a:prstDash val="solid"/>
          </a:ln>
        </p:spPr>
      </p:sp>
      <p:sp>
        <p:nvSpPr>
          <p:cNvPr id="157" name="Text 155"/>
          <p:cNvSpPr/>
          <p:nvPr/>
        </p:nvSpPr>
        <p:spPr>
          <a:xfrm>
            <a:off x="5710428" y="2633472"/>
            <a:ext cx="11064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</a:t>
            </a:r>
            <a:endParaRPr lang="en-US" sz="700" dirty="0"/>
          </a:p>
        </p:txBody>
      </p:sp>
      <p:sp>
        <p:nvSpPr>
          <p:cNvPr id="158" name="Text 156"/>
          <p:cNvSpPr/>
          <p:nvPr/>
        </p:nvSpPr>
        <p:spPr>
          <a:xfrm>
            <a:off x="6752844" y="2633472"/>
            <a:ext cx="237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ALN</a:t>
            </a:r>
            <a:endParaRPr lang="en-US" sz="700" dirty="0"/>
          </a:p>
        </p:txBody>
      </p:sp>
      <p:sp>
        <p:nvSpPr>
          <p:cNvPr id="159" name="Shape 157"/>
          <p:cNvSpPr/>
          <p:nvPr/>
        </p:nvSpPr>
        <p:spPr>
          <a:xfrm>
            <a:off x="5536692" y="2798064"/>
            <a:ext cx="1435608" cy="256032"/>
          </a:xfrm>
          <a:prstGeom prst="rect">
            <a:avLst/>
          </a:prstGeom>
          <a:solidFill>
            <a:srgbClr val="0D1520"/>
          </a:solidFill>
          <a:ln w="12700">
            <a:solidFill>
              <a:srgbClr val="0D152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573268" y="2834640"/>
            <a:ext cx="201168" cy="201168"/>
          </a:xfrm>
          <a:prstGeom prst="rect">
            <a:avLst/>
          </a:prstGeom>
          <a:solidFill>
            <a:srgbClr val="F97316">
              <a:alpha val="25000"/>
            </a:srgbClr>
          </a:solidFill>
          <a:ln w="6350">
            <a:solidFill>
              <a:srgbClr val="F97316"/>
            </a:solidFill>
            <a:prstDash val="solid"/>
          </a:ln>
        </p:spPr>
      </p:sp>
      <p:sp>
        <p:nvSpPr>
          <p:cNvPr id="161" name="Text 159"/>
          <p:cNvSpPr/>
          <p:nvPr/>
        </p:nvSpPr>
        <p:spPr>
          <a:xfrm>
            <a:off x="5573268" y="283464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1°</a:t>
            </a:r>
            <a:endParaRPr lang="en-US" sz="750" dirty="0"/>
          </a:p>
        </p:txBody>
      </p:sp>
      <p:sp>
        <p:nvSpPr>
          <p:cNvPr id="162" name="Text 160"/>
          <p:cNvSpPr/>
          <p:nvPr/>
        </p:nvSpPr>
        <p:spPr>
          <a:xfrm>
            <a:off x="5801868" y="2834640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M. Cheung</a:t>
            </a:r>
            <a:endParaRPr lang="en-US" sz="900" dirty="0"/>
          </a:p>
        </p:txBody>
      </p:sp>
      <p:sp>
        <p:nvSpPr>
          <p:cNvPr id="163" name="Text 161"/>
          <p:cNvSpPr/>
          <p:nvPr/>
        </p:nvSpPr>
        <p:spPr>
          <a:xfrm>
            <a:off x="6752844" y="2834640"/>
            <a:ext cx="237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9.0</a:t>
            </a:r>
            <a:endParaRPr lang="en-US" sz="950" dirty="0"/>
          </a:p>
        </p:txBody>
      </p:sp>
      <p:sp>
        <p:nvSpPr>
          <p:cNvPr id="164" name="Shape 162"/>
          <p:cNvSpPr/>
          <p:nvPr/>
        </p:nvSpPr>
        <p:spPr>
          <a:xfrm>
            <a:off x="5573268" y="3054096"/>
            <a:ext cx="1362456" cy="0"/>
          </a:xfrm>
          <a:prstGeom prst="line">
            <a:avLst/>
          </a:prstGeom>
          <a:noFill/>
          <a:ln w="6350">
            <a:solidFill>
              <a:srgbClr val="1A2333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573268" y="3108960"/>
            <a:ext cx="201168" cy="201168"/>
          </a:xfrm>
          <a:prstGeom prst="rect">
            <a:avLst/>
          </a:prstGeom>
          <a:solidFill>
            <a:srgbClr val="1E2535"/>
          </a:solidFill>
          <a:ln w="6350">
            <a:solidFill>
              <a:srgbClr val="64748B"/>
            </a:solidFill>
            <a:prstDash val="solid"/>
          </a:ln>
        </p:spPr>
      </p:sp>
      <p:sp>
        <p:nvSpPr>
          <p:cNvPr id="166" name="Text 164"/>
          <p:cNvSpPr/>
          <p:nvPr/>
        </p:nvSpPr>
        <p:spPr>
          <a:xfrm>
            <a:off x="5573268" y="310896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2°</a:t>
            </a:r>
            <a:endParaRPr lang="en-US" sz="750" dirty="0"/>
          </a:p>
        </p:txBody>
      </p:sp>
      <p:sp>
        <p:nvSpPr>
          <p:cNvPr id="167" name="Text 165"/>
          <p:cNvSpPr/>
          <p:nvPr/>
        </p:nvSpPr>
        <p:spPr>
          <a:xfrm>
            <a:off x="5801868" y="3108960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Healy</a:t>
            </a:r>
            <a:endParaRPr lang="en-US" sz="900" dirty="0"/>
          </a:p>
        </p:txBody>
      </p:sp>
      <p:sp>
        <p:nvSpPr>
          <p:cNvPr id="168" name="Text 166"/>
          <p:cNvSpPr/>
          <p:nvPr/>
        </p:nvSpPr>
        <p:spPr>
          <a:xfrm>
            <a:off x="6752844" y="3108960"/>
            <a:ext cx="237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8.5</a:t>
            </a:r>
            <a:endParaRPr lang="en-US" sz="950" dirty="0"/>
          </a:p>
        </p:txBody>
      </p:sp>
      <p:sp>
        <p:nvSpPr>
          <p:cNvPr id="169" name="Shape 167"/>
          <p:cNvSpPr/>
          <p:nvPr/>
        </p:nvSpPr>
        <p:spPr>
          <a:xfrm>
            <a:off x="5573268" y="3328416"/>
            <a:ext cx="1362456" cy="0"/>
          </a:xfrm>
          <a:prstGeom prst="line">
            <a:avLst/>
          </a:prstGeom>
          <a:noFill/>
          <a:ln w="6350">
            <a:solidFill>
              <a:srgbClr val="1A2333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5536692" y="3346704"/>
            <a:ext cx="1435608" cy="256032"/>
          </a:xfrm>
          <a:prstGeom prst="rect">
            <a:avLst/>
          </a:prstGeom>
          <a:solidFill>
            <a:srgbClr val="0D1520"/>
          </a:solidFill>
          <a:ln w="12700">
            <a:solidFill>
              <a:srgbClr val="0D152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5573268" y="3383280"/>
            <a:ext cx="201168" cy="201168"/>
          </a:xfrm>
          <a:prstGeom prst="rect">
            <a:avLst/>
          </a:prstGeom>
          <a:solidFill>
            <a:srgbClr val="F97316">
              <a:alpha val="25000"/>
            </a:srgbClr>
          </a:solidFill>
          <a:ln w="6350">
            <a:solidFill>
              <a:srgbClr val="F97316"/>
            </a:solidFill>
            <a:prstDash val="solid"/>
          </a:ln>
        </p:spPr>
      </p:sp>
      <p:sp>
        <p:nvSpPr>
          <p:cNvPr id="172" name="Text 170"/>
          <p:cNvSpPr/>
          <p:nvPr/>
        </p:nvSpPr>
        <p:spPr>
          <a:xfrm>
            <a:off x="5573268" y="338328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1°</a:t>
            </a:r>
            <a:endParaRPr lang="en-US" sz="750" dirty="0"/>
          </a:p>
        </p:txBody>
      </p:sp>
      <p:sp>
        <p:nvSpPr>
          <p:cNvPr id="173" name="Text 171"/>
          <p:cNvSpPr/>
          <p:nvPr/>
        </p:nvSpPr>
        <p:spPr>
          <a:xfrm>
            <a:off x="5801868" y="3383280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Bellemare-Pepin</a:t>
            </a:r>
            <a:endParaRPr lang="en-US" sz="900" dirty="0"/>
          </a:p>
        </p:txBody>
      </p:sp>
      <p:sp>
        <p:nvSpPr>
          <p:cNvPr id="174" name="Text 172"/>
          <p:cNvSpPr/>
          <p:nvPr/>
        </p:nvSpPr>
        <p:spPr>
          <a:xfrm>
            <a:off x="6752844" y="3383280"/>
            <a:ext cx="237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8.5</a:t>
            </a:r>
            <a:endParaRPr lang="en-US" sz="950" dirty="0"/>
          </a:p>
        </p:txBody>
      </p:sp>
      <p:sp>
        <p:nvSpPr>
          <p:cNvPr id="175" name="Shape 173"/>
          <p:cNvSpPr/>
          <p:nvPr/>
        </p:nvSpPr>
        <p:spPr>
          <a:xfrm>
            <a:off x="5573268" y="3602736"/>
            <a:ext cx="1362456" cy="0"/>
          </a:xfrm>
          <a:prstGeom prst="line">
            <a:avLst/>
          </a:prstGeom>
          <a:noFill/>
          <a:ln w="6350">
            <a:solidFill>
              <a:srgbClr val="1A2333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5573268" y="3657600"/>
            <a:ext cx="201168" cy="201168"/>
          </a:xfrm>
          <a:prstGeom prst="rect">
            <a:avLst/>
          </a:prstGeom>
          <a:solidFill>
            <a:srgbClr val="F97316">
              <a:alpha val="25000"/>
            </a:srgbClr>
          </a:solidFill>
          <a:ln w="6350">
            <a:solidFill>
              <a:srgbClr val="F97316"/>
            </a:solidFill>
            <a:prstDash val="solid"/>
          </a:ln>
        </p:spPr>
      </p:sp>
      <p:sp>
        <p:nvSpPr>
          <p:cNvPr id="177" name="Text 175"/>
          <p:cNvSpPr/>
          <p:nvPr/>
        </p:nvSpPr>
        <p:spPr>
          <a:xfrm>
            <a:off x="5573268" y="365760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1°</a:t>
            </a:r>
            <a:endParaRPr lang="en-US" sz="750" dirty="0"/>
          </a:p>
        </p:txBody>
      </p:sp>
      <p:sp>
        <p:nvSpPr>
          <p:cNvPr id="178" name="Text 176"/>
          <p:cNvSpPr/>
          <p:nvPr/>
        </p:nvSpPr>
        <p:spPr>
          <a:xfrm>
            <a:off x="5801868" y="3657600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Leatherby</a:t>
            </a:r>
            <a:endParaRPr lang="en-US" sz="900" dirty="0"/>
          </a:p>
        </p:txBody>
      </p:sp>
      <p:sp>
        <p:nvSpPr>
          <p:cNvPr id="179" name="Text 177"/>
          <p:cNvSpPr/>
          <p:nvPr/>
        </p:nvSpPr>
        <p:spPr>
          <a:xfrm>
            <a:off x="6752844" y="3657600"/>
            <a:ext cx="237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7.0</a:t>
            </a:r>
            <a:endParaRPr lang="en-US" sz="950" dirty="0"/>
          </a:p>
        </p:txBody>
      </p:sp>
      <p:sp>
        <p:nvSpPr>
          <p:cNvPr id="180" name="Shape 178"/>
          <p:cNvSpPr/>
          <p:nvPr/>
        </p:nvSpPr>
        <p:spPr>
          <a:xfrm>
            <a:off x="5573268" y="3877056"/>
            <a:ext cx="1362456" cy="0"/>
          </a:xfrm>
          <a:prstGeom prst="line">
            <a:avLst/>
          </a:prstGeom>
          <a:noFill/>
          <a:ln w="6350">
            <a:solidFill>
              <a:srgbClr val="1A2333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5536692" y="3895344"/>
            <a:ext cx="1435608" cy="256032"/>
          </a:xfrm>
          <a:prstGeom prst="rect">
            <a:avLst/>
          </a:prstGeom>
          <a:solidFill>
            <a:srgbClr val="0D1520"/>
          </a:solidFill>
          <a:ln w="12700">
            <a:solidFill>
              <a:srgbClr val="0D152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5573268" y="3931920"/>
            <a:ext cx="201168" cy="201168"/>
          </a:xfrm>
          <a:prstGeom prst="rect">
            <a:avLst/>
          </a:prstGeom>
          <a:solidFill>
            <a:srgbClr val="F97316">
              <a:alpha val="25000"/>
            </a:srgbClr>
          </a:solidFill>
          <a:ln w="6350">
            <a:solidFill>
              <a:srgbClr val="F97316"/>
            </a:solidFill>
            <a:prstDash val="solid"/>
          </a:ln>
        </p:spPr>
      </p:sp>
      <p:sp>
        <p:nvSpPr>
          <p:cNvPr id="183" name="Text 181"/>
          <p:cNvSpPr/>
          <p:nvPr/>
        </p:nvSpPr>
        <p:spPr>
          <a:xfrm>
            <a:off x="5573268" y="393192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1°</a:t>
            </a:r>
            <a:endParaRPr lang="en-US" sz="750" dirty="0"/>
          </a:p>
        </p:txBody>
      </p:sp>
      <p:sp>
        <p:nvSpPr>
          <p:cNvPr id="184" name="Text 182"/>
          <p:cNvSpPr/>
          <p:nvPr/>
        </p:nvSpPr>
        <p:spPr>
          <a:xfrm>
            <a:off x="5801868" y="3931920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Muller (Mila)</a:t>
            </a:r>
            <a:endParaRPr lang="en-US" sz="900" dirty="0"/>
          </a:p>
        </p:txBody>
      </p:sp>
      <p:sp>
        <p:nvSpPr>
          <p:cNvPr id="185" name="Text 183"/>
          <p:cNvSpPr/>
          <p:nvPr/>
        </p:nvSpPr>
        <p:spPr>
          <a:xfrm>
            <a:off x="6752844" y="3931920"/>
            <a:ext cx="237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5.0</a:t>
            </a:r>
            <a:endParaRPr lang="en-US" sz="950" dirty="0"/>
          </a:p>
        </p:txBody>
      </p:sp>
      <p:sp>
        <p:nvSpPr>
          <p:cNvPr id="186" name="Shape 184"/>
          <p:cNvSpPr/>
          <p:nvPr/>
        </p:nvSpPr>
        <p:spPr>
          <a:xfrm>
            <a:off x="5463540" y="4544568"/>
            <a:ext cx="1581912" cy="457200"/>
          </a:xfrm>
          <a:prstGeom prst="rect">
            <a:avLst/>
          </a:prstGeom>
          <a:solidFill>
            <a:srgbClr val="0A1020"/>
          </a:solidFill>
          <a:ln w="12700">
            <a:solidFill>
              <a:srgbClr val="1E2A3D"/>
            </a:solidFill>
            <a:prstDash val="solid"/>
          </a:ln>
        </p:spPr>
      </p:sp>
      <p:sp>
        <p:nvSpPr>
          <p:cNvPr id="187" name="Text 185"/>
          <p:cNvSpPr/>
          <p:nvPr/>
        </p:nvSpPr>
        <p:spPr>
          <a:xfrm>
            <a:off x="5573268" y="4544568"/>
            <a:ext cx="1362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7.5</a:t>
            </a:r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10  avg alignment</a:t>
            </a:r>
            <a:endParaRPr lang="en-US" sz="1300" dirty="0"/>
          </a:p>
        </p:txBody>
      </p:sp>
      <p:sp>
        <p:nvSpPr>
          <p:cNvPr id="188" name="Shape 186"/>
          <p:cNvSpPr/>
          <p:nvPr/>
        </p:nvSpPr>
        <p:spPr>
          <a:xfrm>
            <a:off x="7168896" y="914400"/>
            <a:ext cx="1581912" cy="4087368"/>
          </a:xfrm>
          <a:prstGeom prst="rect">
            <a:avLst/>
          </a:prstGeom>
          <a:solidFill>
            <a:srgbClr val="111827"/>
          </a:solidFill>
          <a:ln w="12700">
            <a:solidFill>
              <a:srgbClr val="1E2A3D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30000"/>
              </a:srgbClr>
            </a:outerShdw>
          </a:effectLst>
        </p:spPr>
      </p:sp>
      <p:sp>
        <p:nvSpPr>
          <p:cNvPr id="189" name="Shape 187"/>
          <p:cNvSpPr/>
          <p:nvPr/>
        </p:nvSpPr>
        <p:spPr>
          <a:xfrm>
            <a:off x="7168896" y="914400"/>
            <a:ext cx="1581912" cy="4572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90" name="Text 188"/>
          <p:cNvSpPr/>
          <p:nvPr/>
        </p:nvSpPr>
        <p:spPr>
          <a:xfrm>
            <a:off x="7278624" y="1024128"/>
            <a:ext cx="1362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ENV. STEWARDSHIP</a:t>
            </a:r>
            <a:endParaRPr lang="en-US" sz="850" dirty="0"/>
          </a:p>
        </p:txBody>
      </p:sp>
      <p:sp>
        <p:nvSpPr>
          <p:cNvPr id="191" name="Text 189"/>
          <p:cNvSpPr/>
          <p:nvPr/>
        </p:nvSpPr>
        <p:spPr>
          <a:xfrm>
            <a:off x="7260336" y="1261872"/>
            <a:ext cx="1399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000" dirty="0"/>
          </a:p>
        </p:txBody>
      </p:sp>
      <p:sp>
        <p:nvSpPr>
          <p:cNvPr id="192" name="Text 190"/>
          <p:cNvSpPr/>
          <p:nvPr/>
        </p:nvSpPr>
        <p:spPr>
          <a:xfrm>
            <a:off x="7278624" y="2066544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projects</a:t>
            </a:r>
            <a:endParaRPr lang="en-US" sz="950" dirty="0"/>
          </a:p>
        </p:txBody>
      </p:sp>
      <p:sp>
        <p:nvSpPr>
          <p:cNvPr id="193" name="Shape 191"/>
          <p:cNvSpPr/>
          <p:nvPr/>
        </p:nvSpPr>
        <p:spPr>
          <a:xfrm>
            <a:off x="7278624" y="2286000"/>
            <a:ext cx="603504" cy="219456"/>
          </a:xfrm>
          <a:prstGeom prst="rect">
            <a:avLst/>
          </a:prstGeom>
          <a:solidFill>
            <a:srgbClr val="4ADE80">
              <a:alpha val="18000"/>
            </a:srgbClr>
          </a:solidFill>
          <a:ln w="9525">
            <a:solidFill>
              <a:srgbClr val="4ADE80"/>
            </a:solidFill>
            <a:prstDash val="solid"/>
          </a:ln>
        </p:spPr>
      </p:sp>
      <p:sp>
        <p:nvSpPr>
          <p:cNvPr id="194" name="Text 192"/>
          <p:cNvSpPr/>
          <p:nvPr/>
        </p:nvSpPr>
        <p:spPr>
          <a:xfrm>
            <a:off x="7278624" y="2286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primary</a:t>
            </a:r>
            <a:endParaRPr lang="en-US" sz="800" dirty="0"/>
          </a:p>
        </p:txBody>
      </p:sp>
      <p:sp>
        <p:nvSpPr>
          <p:cNvPr id="195" name="Shape 193"/>
          <p:cNvSpPr/>
          <p:nvPr/>
        </p:nvSpPr>
        <p:spPr>
          <a:xfrm>
            <a:off x="7278624" y="2560320"/>
            <a:ext cx="1362456" cy="0"/>
          </a:xfrm>
          <a:prstGeom prst="line">
            <a:avLst/>
          </a:prstGeom>
          <a:noFill/>
          <a:ln w="9525">
            <a:solidFill>
              <a:srgbClr val="1E2A3D"/>
            </a:solidFill>
            <a:prstDash val="solid"/>
          </a:ln>
        </p:spPr>
      </p:sp>
      <p:sp>
        <p:nvSpPr>
          <p:cNvPr id="196" name="Text 194"/>
          <p:cNvSpPr/>
          <p:nvPr/>
        </p:nvSpPr>
        <p:spPr>
          <a:xfrm>
            <a:off x="7415784" y="2633472"/>
            <a:ext cx="11064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</a:t>
            </a:r>
            <a:endParaRPr lang="en-US" sz="700" dirty="0"/>
          </a:p>
        </p:txBody>
      </p:sp>
      <p:sp>
        <p:nvSpPr>
          <p:cNvPr id="197" name="Text 195"/>
          <p:cNvSpPr/>
          <p:nvPr/>
        </p:nvSpPr>
        <p:spPr>
          <a:xfrm>
            <a:off x="8458200" y="2633472"/>
            <a:ext cx="237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ALN</a:t>
            </a:r>
            <a:endParaRPr lang="en-US" sz="700" dirty="0"/>
          </a:p>
        </p:txBody>
      </p:sp>
      <p:sp>
        <p:nvSpPr>
          <p:cNvPr id="198" name="Shape 196"/>
          <p:cNvSpPr/>
          <p:nvPr/>
        </p:nvSpPr>
        <p:spPr>
          <a:xfrm>
            <a:off x="7242048" y="2798064"/>
            <a:ext cx="1435608" cy="256032"/>
          </a:xfrm>
          <a:prstGeom prst="rect">
            <a:avLst/>
          </a:prstGeom>
          <a:solidFill>
            <a:srgbClr val="0D1520"/>
          </a:solidFill>
          <a:ln w="12700">
            <a:solidFill>
              <a:srgbClr val="0D152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7278624" y="2834640"/>
            <a:ext cx="201168" cy="201168"/>
          </a:xfrm>
          <a:prstGeom prst="rect">
            <a:avLst/>
          </a:prstGeom>
          <a:solidFill>
            <a:srgbClr val="4ADE80">
              <a:alpha val="25000"/>
            </a:srgbClr>
          </a:solidFill>
          <a:ln w="6350">
            <a:solidFill>
              <a:srgbClr val="4ADE80"/>
            </a:solidFill>
            <a:prstDash val="solid"/>
          </a:ln>
        </p:spPr>
      </p:sp>
      <p:sp>
        <p:nvSpPr>
          <p:cNvPr id="200" name="Text 198"/>
          <p:cNvSpPr/>
          <p:nvPr/>
        </p:nvSpPr>
        <p:spPr>
          <a:xfrm>
            <a:off x="7278624" y="283464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1°</a:t>
            </a:r>
            <a:endParaRPr lang="en-US" sz="750" dirty="0"/>
          </a:p>
        </p:txBody>
      </p:sp>
      <p:sp>
        <p:nvSpPr>
          <p:cNvPr id="201" name="Text 199"/>
          <p:cNvSpPr/>
          <p:nvPr/>
        </p:nvSpPr>
        <p:spPr>
          <a:xfrm>
            <a:off x="7507224" y="2834640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Cordes</a:t>
            </a:r>
            <a:endParaRPr lang="en-US" sz="900" dirty="0"/>
          </a:p>
        </p:txBody>
      </p:sp>
      <p:sp>
        <p:nvSpPr>
          <p:cNvPr id="202" name="Text 200"/>
          <p:cNvSpPr/>
          <p:nvPr/>
        </p:nvSpPr>
        <p:spPr>
          <a:xfrm>
            <a:off x="8458200" y="2834640"/>
            <a:ext cx="237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9.0</a:t>
            </a:r>
            <a:endParaRPr lang="en-US" sz="950" dirty="0"/>
          </a:p>
        </p:txBody>
      </p:sp>
      <p:sp>
        <p:nvSpPr>
          <p:cNvPr id="203" name="Shape 201"/>
          <p:cNvSpPr/>
          <p:nvPr/>
        </p:nvSpPr>
        <p:spPr>
          <a:xfrm>
            <a:off x="7278624" y="3054096"/>
            <a:ext cx="1362456" cy="0"/>
          </a:xfrm>
          <a:prstGeom prst="line">
            <a:avLst/>
          </a:prstGeom>
          <a:noFill/>
          <a:ln w="6350">
            <a:solidFill>
              <a:srgbClr val="1A2333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278624" y="3108960"/>
            <a:ext cx="201168" cy="201168"/>
          </a:xfrm>
          <a:prstGeom prst="rect">
            <a:avLst/>
          </a:prstGeom>
          <a:solidFill>
            <a:srgbClr val="4ADE80">
              <a:alpha val="25000"/>
            </a:srgbClr>
          </a:solidFill>
          <a:ln w="6350">
            <a:solidFill>
              <a:srgbClr val="4ADE80"/>
            </a:solidFill>
            <a:prstDash val="solid"/>
          </a:ln>
        </p:spPr>
      </p:sp>
      <p:sp>
        <p:nvSpPr>
          <p:cNvPr id="205" name="Text 203"/>
          <p:cNvSpPr/>
          <p:nvPr/>
        </p:nvSpPr>
        <p:spPr>
          <a:xfrm>
            <a:off x="7278624" y="310896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1°</a:t>
            </a:r>
            <a:endParaRPr lang="en-US" sz="750" dirty="0"/>
          </a:p>
        </p:txBody>
      </p:sp>
      <p:sp>
        <p:nvSpPr>
          <p:cNvPr id="206" name="Text 204"/>
          <p:cNvSpPr/>
          <p:nvPr/>
        </p:nvSpPr>
        <p:spPr>
          <a:xfrm>
            <a:off x="7507224" y="3108960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Fox (UCSD)</a:t>
            </a:r>
            <a:endParaRPr lang="en-US" sz="900" dirty="0"/>
          </a:p>
        </p:txBody>
      </p:sp>
      <p:sp>
        <p:nvSpPr>
          <p:cNvPr id="207" name="Text 205"/>
          <p:cNvSpPr/>
          <p:nvPr/>
        </p:nvSpPr>
        <p:spPr>
          <a:xfrm>
            <a:off x="8458200" y="3108960"/>
            <a:ext cx="237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9.0</a:t>
            </a:r>
            <a:endParaRPr lang="en-US" sz="950" dirty="0"/>
          </a:p>
        </p:txBody>
      </p:sp>
      <p:sp>
        <p:nvSpPr>
          <p:cNvPr id="208" name="Shape 206"/>
          <p:cNvSpPr/>
          <p:nvPr/>
        </p:nvSpPr>
        <p:spPr>
          <a:xfrm>
            <a:off x="7278624" y="3328416"/>
            <a:ext cx="1362456" cy="0"/>
          </a:xfrm>
          <a:prstGeom prst="line">
            <a:avLst/>
          </a:prstGeom>
          <a:noFill/>
          <a:ln w="6350">
            <a:solidFill>
              <a:srgbClr val="1A2333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7242048" y="3346704"/>
            <a:ext cx="1435608" cy="256032"/>
          </a:xfrm>
          <a:prstGeom prst="rect">
            <a:avLst/>
          </a:prstGeom>
          <a:solidFill>
            <a:srgbClr val="0D1520"/>
          </a:solidFill>
          <a:ln w="12700">
            <a:solidFill>
              <a:srgbClr val="0D152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7278624" y="3383280"/>
            <a:ext cx="201168" cy="201168"/>
          </a:xfrm>
          <a:prstGeom prst="rect">
            <a:avLst/>
          </a:prstGeom>
          <a:solidFill>
            <a:srgbClr val="4ADE80">
              <a:alpha val="25000"/>
            </a:srgbClr>
          </a:solidFill>
          <a:ln w="6350">
            <a:solidFill>
              <a:srgbClr val="4ADE80"/>
            </a:solidFill>
            <a:prstDash val="solid"/>
          </a:ln>
        </p:spPr>
      </p:sp>
      <p:sp>
        <p:nvSpPr>
          <p:cNvPr id="211" name="Text 209"/>
          <p:cNvSpPr/>
          <p:nvPr/>
        </p:nvSpPr>
        <p:spPr>
          <a:xfrm>
            <a:off x="7278624" y="338328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1°</a:t>
            </a:r>
            <a:endParaRPr lang="en-US" sz="750" dirty="0"/>
          </a:p>
        </p:txBody>
      </p:sp>
      <p:sp>
        <p:nvSpPr>
          <p:cNvPr id="212" name="Text 210"/>
          <p:cNvSpPr/>
          <p:nvPr/>
        </p:nvSpPr>
        <p:spPr>
          <a:xfrm>
            <a:off x="7507224" y="3383280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Abundant Soils</a:t>
            </a:r>
            <a:endParaRPr lang="en-US" sz="900" dirty="0"/>
          </a:p>
        </p:txBody>
      </p:sp>
      <p:sp>
        <p:nvSpPr>
          <p:cNvPr id="213" name="Text 211"/>
          <p:cNvSpPr/>
          <p:nvPr/>
        </p:nvSpPr>
        <p:spPr>
          <a:xfrm>
            <a:off x="8458200" y="3383280"/>
            <a:ext cx="237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7.0</a:t>
            </a:r>
            <a:endParaRPr lang="en-US" sz="950" dirty="0"/>
          </a:p>
        </p:txBody>
      </p:sp>
      <p:sp>
        <p:nvSpPr>
          <p:cNvPr id="214" name="Shape 212"/>
          <p:cNvSpPr/>
          <p:nvPr/>
        </p:nvSpPr>
        <p:spPr>
          <a:xfrm>
            <a:off x="7278624" y="3602736"/>
            <a:ext cx="1362456" cy="0"/>
          </a:xfrm>
          <a:prstGeom prst="line">
            <a:avLst/>
          </a:prstGeom>
          <a:noFill/>
          <a:ln w="6350">
            <a:solidFill>
              <a:srgbClr val="1A2333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7278624" y="3657600"/>
            <a:ext cx="201168" cy="201168"/>
          </a:xfrm>
          <a:prstGeom prst="rect">
            <a:avLst/>
          </a:prstGeom>
          <a:solidFill>
            <a:srgbClr val="4ADE80">
              <a:alpha val="25000"/>
            </a:srgbClr>
          </a:solidFill>
          <a:ln w="6350">
            <a:solidFill>
              <a:srgbClr val="4ADE80"/>
            </a:solidFill>
            <a:prstDash val="solid"/>
          </a:ln>
        </p:spPr>
      </p:sp>
      <p:sp>
        <p:nvSpPr>
          <p:cNvPr id="216" name="Text 214"/>
          <p:cNvSpPr/>
          <p:nvPr/>
        </p:nvSpPr>
        <p:spPr>
          <a:xfrm>
            <a:off x="7278624" y="365760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1°</a:t>
            </a:r>
            <a:endParaRPr lang="en-US" sz="750" dirty="0"/>
          </a:p>
        </p:txBody>
      </p:sp>
      <p:sp>
        <p:nvSpPr>
          <p:cNvPr id="217" name="Text 215"/>
          <p:cNvSpPr/>
          <p:nvPr/>
        </p:nvSpPr>
        <p:spPr>
          <a:xfrm>
            <a:off x="7507224" y="3657600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Ubalijoro</a:t>
            </a:r>
            <a:endParaRPr lang="en-US" sz="900" dirty="0"/>
          </a:p>
        </p:txBody>
      </p:sp>
      <p:sp>
        <p:nvSpPr>
          <p:cNvPr id="218" name="Text 216"/>
          <p:cNvSpPr/>
          <p:nvPr/>
        </p:nvSpPr>
        <p:spPr>
          <a:xfrm>
            <a:off x="8458200" y="3657600"/>
            <a:ext cx="237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6.5</a:t>
            </a:r>
            <a:endParaRPr lang="en-US" sz="950" dirty="0"/>
          </a:p>
        </p:txBody>
      </p:sp>
      <p:sp>
        <p:nvSpPr>
          <p:cNvPr id="219" name="Shape 217"/>
          <p:cNvSpPr/>
          <p:nvPr/>
        </p:nvSpPr>
        <p:spPr>
          <a:xfrm>
            <a:off x="7168896" y="4544568"/>
            <a:ext cx="1581912" cy="457200"/>
          </a:xfrm>
          <a:prstGeom prst="rect">
            <a:avLst/>
          </a:prstGeom>
          <a:solidFill>
            <a:srgbClr val="0A1020"/>
          </a:solidFill>
          <a:ln w="12700">
            <a:solidFill>
              <a:srgbClr val="1E2A3D"/>
            </a:solidFill>
            <a:prstDash val="solid"/>
          </a:ln>
        </p:spPr>
      </p:sp>
      <p:sp>
        <p:nvSpPr>
          <p:cNvPr id="220" name="Text 218"/>
          <p:cNvSpPr/>
          <p:nvPr/>
        </p:nvSpPr>
        <p:spPr>
          <a:xfrm>
            <a:off x="7278624" y="4544568"/>
            <a:ext cx="1362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7.88</a:t>
            </a:r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10  avg alignment</a:t>
            </a:r>
            <a:endParaRPr lang="en-US" sz="1300" dirty="0"/>
          </a:p>
        </p:txBody>
      </p:sp>
      <p:sp>
        <p:nvSpPr>
          <p:cNvPr id="221" name="Text 219"/>
          <p:cNvSpPr/>
          <p:nvPr/>
        </p:nvSpPr>
        <p:spPr>
          <a:xfrm>
            <a:off x="411480" y="4956048"/>
            <a:ext cx="8321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A3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AbInt Phase 2 Evaluation Forms (59 evaluations, 6 reviewers)  ·  Projects sorted by reviewer alignment score within each area  ·  Areas reflect primary and secondary designations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2026-03-24T16:17:13Z</dcterms:created>
  <dcterms:modified xsi:type="dcterms:W3CDTF">2026-03-24T16:17:13Z</dcterms:modified>
</cp:coreProperties>
</file>